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0" r:id="rId11"/>
    <p:sldId id="301" r:id="rId12"/>
    <p:sldId id="266" r:id="rId13"/>
  </p:sldIdLst>
  <p:sldSz cx="18288000" cy="10287000"/>
  <p:notesSz cx="6858000" cy="9144000"/>
  <p:embeddedFontLst>
    <p:embeddedFont>
      <p:font typeface="Montserrat Bold" panose="020B0604020202020204" charset="0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3000" y="0"/>
            <a:ext cx="9525000" cy="10287000"/>
          </a:xfrm>
          <a:custGeom>
            <a:avLst/>
            <a:gdLst/>
            <a:ahLst/>
            <a:cxnLst/>
            <a:rect l="l" t="t" r="r" b="b"/>
            <a:pathLst>
              <a:path w="9525000" h="10287000">
                <a:moveTo>
                  <a:pt x="0" y="0"/>
                </a:moveTo>
                <a:lnTo>
                  <a:pt x="9525000" y="0"/>
                </a:lnTo>
                <a:lnTo>
                  <a:pt x="9525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000" r="-46000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7429500" y="0"/>
            <a:ext cx="5905500" cy="10287000"/>
            <a:chOff x="0" y="0"/>
            <a:chExt cx="787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74000" cy="13716000"/>
            </a:xfrm>
            <a:custGeom>
              <a:avLst/>
              <a:gdLst/>
              <a:ahLst/>
              <a:cxnLst/>
              <a:rect l="l" t="t" r="r" b="b"/>
              <a:pathLst>
                <a:path w="7874000" h="13716000">
                  <a:moveTo>
                    <a:pt x="0" y="0"/>
                  </a:moveTo>
                  <a:lnTo>
                    <a:pt x="7874000" y="0"/>
                  </a:lnTo>
                  <a:lnTo>
                    <a:pt x="787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5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87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47750" y="1800225"/>
            <a:ext cx="8096250" cy="216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24"/>
              </a:lnSpc>
            </a:pPr>
            <a:r>
              <a:rPr lang="en-US" sz="7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</a:t>
            </a:r>
          </a:p>
          <a:p>
            <a:pPr algn="l">
              <a:lnSpc>
                <a:spcPts val="8424"/>
              </a:lnSpc>
            </a:pPr>
            <a:r>
              <a:rPr lang="en-US" sz="78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Network Web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750" y="4191000"/>
            <a:ext cx="666750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Báo </a:t>
            </a:r>
            <a:r>
              <a:rPr lang="en-US" sz="25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cáo</a:t>
            </a:r>
            <a:r>
              <a:rPr lang="en-US" sz="25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thực</a:t>
            </a:r>
            <a:r>
              <a:rPr lang="en-US" sz="25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tập</a:t>
            </a:r>
            <a:r>
              <a:rPr lang="en-US" sz="25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tốt</a:t>
            </a:r>
            <a:r>
              <a:rPr lang="en-US" sz="25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nghiệp</a:t>
            </a:r>
            <a:endParaRPr lang="en-US" sz="2550" dirty="0">
              <a:solidFill>
                <a:srgbClr val="CBD3E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47750" y="4953000"/>
            <a:ext cx="6953250" cy="68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Website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mạng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xã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phép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đăng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bài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kết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bạn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nhắn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tin,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đăng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story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trang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quản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0" dirty="0" err="1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trị</a:t>
            </a:r>
            <a:r>
              <a:rPr lang="en-US" sz="1950" dirty="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7915275"/>
            <a:ext cx="74295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Sinh viên: ............   •   Đơn vị: ............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Người hướng dẫn: ............   •   Thời gian: ............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828675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 — BỐI CẢNH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543050"/>
            <a:ext cx="6191250" cy="184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660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Giới thiệu</a:t>
            </a:r>
          </a:p>
          <a:p>
            <a:pPr algn="l">
              <a:lnSpc>
                <a:spcPts val="7128"/>
              </a:lnSpc>
            </a:pPr>
            <a:r>
              <a:rPr lang="en-US" sz="660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thực tập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3962400"/>
            <a:ext cx="590550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Từ môi trường học tập đến quy trình phát triển sản phẩm thực tế.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810500" y="1619250"/>
            <a:ext cx="9429750" cy="6667500"/>
            <a:chOff x="0" y="0"/>
            <a:chExt cx="12573000" cy="8890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2573000" cy="8890000"/>
              <a:chOff x="0" y="0"/>
              <a:chExt cx="12573000" cy="889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573000" cy="8890000"/>
              </a:xfrm>
              <a:custGeom>
                <a:avLst/>
                <a:gdLst/>
                <a:ahLst/>
                <a:cxnLst/>
                <a:rect l="l" t="t" r="r" b="b"/>
                <a:pathLst>
                  <a:path w="12573000" h="8890000">
                    <a:moveTo>
                      <a:pt x="0" y="0"/>
                    </a:moveTo>
                    <a:lnTo>
                      <a:pt x="12573000" y="0"/>
                    </a:lnTo>
                    <a:lnTo>
                      <a:pt x="12573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2573000" cy="892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889000" y="787400"/>
              <a:ext cx="109220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dirty="0" err="1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Đơn</a:t>
              </a:r>
              <a:r>
                <a:rPr lang="en-US" sz="2175" dirty="0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75" dirty="0" err="1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vị</a:t>
              </a:r>
              <a:r>
                <a:rPr lang="en-US" sz="2175" dirty="0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75" dirty="0" err="1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thực</a:t>
              </a:r>
              <a:r>
                <a:rPr lang="en-US" sz="2175" dirty="0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75" dirty="0" err="1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tập</a:t>
              </a:r>
              <a:r>
                <a:rPr lang="en-US" sz="2175" dirty="0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  •  .........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889000" y="2032000"/>
              <a:ext cx="10795000" cy="0"/>
            </a:xfrm>
            <a:prstGeom prst="line">
              <a:avLst/>
            </a:prstGeom>
            <a:ln w="25400" cap="flat">
              <a:solidFill>
                <a:srgbClr val="DBE1EC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9000" y="2628900"/>
              <a:ext cx="109220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Vị trí  •  Lập trình viên thực tập</a:t>
              </a: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89000" y="3873500"/>
              <a:ext cx="10795000" cy="0"/>
            </a:xfrm>
            <a:prstGeom prst="line">
              <a:avLst/>
            </a:prstGeom>
            <a:ln w="25400" cap="flat">
              <a:solidFill>
                <a:srgbClr val="DBE1EC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9000" y="4470400"/>
              <a:ext cx="109220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Thời gian  •  .........</a:t>
              </a: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889000" y="5715000"/>
              <a:ext cx="10795000" cy="0"/>
            </a:xfrm>
            <a:prstGeom prst="line">
              <a:avLst/>
            </a:prstGeom>
            <a:ln w="25400" cap="flat">
              <a:solidFill>
                <a:srgbClr val="DBE1EC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9000" y="6311900"/>
              <a:ext cx="10922000" cy="472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5865F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Nhiệm vụ  •  Tham gia xây dựng ứng dụng mạng xã hội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 — ĐỊNH HƯỚNG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47800"/>
            <a:ext cx="8572500" cy="86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15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Mục tiêu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333750"/>
            <a:ext cx="4857750" cy="4095750"/>
            <a:chOff x="0" y="0"/>
            <a:chExt cx="6477000" cy="546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Website cơ bản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vận hành thực tế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0" y="3333750"/>
            <a:ext cx="4857750" cy="4095750"/>
            <a:chOff x="0" y="0"/>
            <a:chExt cx="6477000" cy="546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5865F2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Đăng bài • Kết bạn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Nhắn tin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06250" y="3333750"/>
            <a:ext cx="4857750" cy="4095750"/>
            <a:chOff x="0" y="0"/>
            <a:chExt cx="6477000" cy="546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Quản lý người dùng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và nội dung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 — TECH STACK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57325"/>
            <a:ext cx="104775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Công nghệ sử dụng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8715375"/>
            <a:ext cx="12382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Một stack JavaScript thống nhất — nhanh để phát triển, dễ để mở rộng.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47750" y="3714750"/>
            <a:ext cx="3619500" cy="3143250"/>
            <a:chOff x="0" y="0"/>
            <a:chExt cx="4826000" cy="4191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26000" cy="4191000"/>
            </a:xfrm>
            <a:custGeom>
              <a:avLst/>
              <a:gdLst/>
              <a:ahLst/>
              <a:cxnLst/>
              <a:rect l="l" t="t" r="r" b="b"/>
              <a:pathLst>
                <a:path w="4826000" h="4191000">
                  <a:moveTo>
                    <a:pt x="60158" y="0"/>
                  </a:moveTo>
                  <a:lnTo>
                    <a:pt x="4765842" y="0"/>
                  </a:lnTo>
                  <a:cubicBezTo>
                    <a:pt x="4799066" y="0"/>
                    <a:pt x="4826000" y="26934"/>
                    <a:pt x="4826000" y="60158"/>
                  </a:cubicBezTo>
                  <a:lnTo>
                    <a:pt x="4826000" y="4130842"/>
                  </a:lnTo>
                  <a:cubicBezTo>
                    <a:pt x="4826000" y="4164066"/>
                    <a:pt x="4799066" y="4191000"/>
                    <a:pt x="4765842" y="4191000"/>
                  </a:cubicBezTo>
                  <a:lnTo>
                    <a:pt x="60158" y="4191000"/>
                  </a:lnTo>
                  <a:cubicBezTo>
                    <a:pt x="26934" y="4191000"/>
                    <a:pt x="0" y="4164066"/>
                    <a:pt x="0" y="4130842"/>
                  </a:cubicBezTo>
                  <a:lnTo>
                    <a:pt x="0" y="60158"/>
                  </a:lnTo>
                  <a:cubicBezTo>
                    <a:pt x="0" y="26934"/>
                    <a:pt x="26934" y="0"/>
                    <a:pt x="60158" y="0"/>
                  </a:cubicBezTo>
                  <a:close/>
                </a:path>
              </a:pathLst>
            </a:custGeom>
            <a:solidFill>
              <a:srgbClr val="5865F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2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FRONTEND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0" y="3714750"/>
            <a:ext cx="3619500" cy="3143250"/>
            <a:chOff x="0" y="0"/>
            <a:chExt cx="4826000" cy="419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26000" cy="4191000"/>
            </a:xfrm>
            <a:custGeom>
              <a:avLst/>
              <a:gdLst/>
              <a:ahLst/>
              <a:cxnLst/>
              <a:rect l="l" t="t" r="r" b="b"/>
              <a:pathLst>
                <a:path w="4826000" h="4191000">
                  <a:moveTo>
                    <a:pt x="60158" y="0"/>
                  </a:moveTo>
                  <a:lnTo>
                    <a:pt x="4765842" y="0"/>
                  </a:lnTo>
                  <a:cubicBezTo>
                    <a:pt x="4799066" y="0"/>
                    <a:pt x="4826000" y="26934"/>
                    <a:pt x="4826000" y="60158"/>
                  </a:cubicBezTo>
                  <a:lnTo>
                    <a:pt x="4826000" y="4130842"/>
                  </a:lnTo>
                  <a:cubicBezTo>
                    <a:pt x="4826000" y="4164066"/>
                    <a:pt x="4799066" y="4191000"/>
                    <a:pt x="4765842" y="4191000"/>
                  </a:cubicBezTo>
                  <a:lnTo>
                    <a:pt x="60158" y="4191000"/>
                  </a:lnTo>
                  <a:cubicBezTo>
                    <a:pt x="26934" y="4191000"/>
                    <a:pt x="0" y="4164066"/>
                    <a:pt x="0" y="4130842"/>
                  </a:cubicBezTo>
                  <a:lnTo>
                    <a:pt x="0" y="60158"/>
                  </a:lnTo>
                  <a:cubicBezTo>
                    <a:pt x="0" y="26934"/>
                    <a:pt x="26934" y="0"/>
                    <a:pt x="60158" y="0"/>
                  </a:cubicBezTo>
                  <a:close/>
                </a:path>
              </a:pathLst>
            </a:custGeom>
            <a:solidFill>
              <a:srgbClr val="32D6C5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2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BACKEND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Node.js + Express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39250" y="3714750"/>
            <a:ext cx="3619500" cy="3143250"/>
            <a:chOff x="0" y="0"/>
            <a:chExt cx="4826000" cy="4191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26000" cy="4191000"/>
            </a:xfrm>
            <a:custGeom>
              <a:avLst/>
              <a:gdLst/>
              <a:ahLst/>
              <a:cxnLst/>
              <a:rect l="l" t="t" r="r" b="b"/>
              <a:pathLst>
                <a:path w="4826000" h="4191000">
                  <a:moveTo>
                    <a:pt x="60158" y="0"/>
                  </a:moveTo>
                  <a:lnTo>
                    <a:pt x="4765842" y="0"/>
                  </a:lnTo>
                  <a:cubicBezTo>
                    <a:pt x="4799066" y="0"/>
                    <a:pt x="4826000" y="26934"/>
                    <a:pt x="4826000" y="60158"/>
                  </a:cubicBezTo>
                  <a:lnTo>
                    <a:pt x="4826000" y="4130842"/>
                  </a:lnTo>
                  <a:cubicBezTo>
                    <a:pt x="4826000" y="4164066"/>
                    <a:pt x="4799066" y="4191000"/>
                    <a:pt x="4765842" y="4191000"/>
                  </a:cubicBezTo>
                  <a:lnTo>
                    <a:pt x="60158" y="4191000"/>
                  </a:lnTo>
                  <a:cubicBezTo>
                    <a:pt x="26934" y="4191000"/>
                    <a:pt x="0" y="4164066"/>
                    <a:pt x="0" y="4130842"/>
                  </a:cubicBezTo>
                  <a:lnTo>
                    <a:pt x="0" y="60158"/>
                  </a:lnTo>
                  <a:cubicBezTo>
                    <a:pt x="0" y="26934"/>
                    <a:pt x="26934" y="0"/>
                    <a:pt x="60158" y="0"/>
                  </a:cubicBezTo>
                  <a:close/>
                </a:path>
              </a:pathLst>
            </a:custGeom>
            <a:solidFill>
              <a:srgbClr val="EF5B78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2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DATABASE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MongoDB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335000" y="3714750"/>
            <a:ext cx="3619500" cy="3143250"/>
            <a:chOff x="0" y="0"/>
            <a:chExt cx="4826000" cy="4191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26000" cy="4191000"/>
            </a:xfrm>
            <a:custGeom>
              <a:avLst/>
              <a:gdLst/>
              <a:ahLst/>
              <a:cxnLst/>
              <a:rect l="l" t="t" r="r" b="b"/>
              <a:pathLst>
                <a:path w="4826000" h="4191000">
                  <a:moveTo>
                    <a:pt x="60158" y="0"/>
                  </a:moveTo>
                  <a:lnTo>
                    <a:pt x="4765842" y="0"/>
                  </a:lnTo>
                  <a:cubicBezTo>
                    <a:pt x="4799066" y="0"/>
                    <a:pt x="4826000" y="26934"/>
                    <a:pt x="4826000" y="60158"/>
                  </a:cubicBezTo>
                  <a:lnTo>
                    <a:pt x="4826000" y="4130842"/>
                  </a:lnTo>
                  <a:cubicBezTo>
                    <a:pt x="4826000" y="4164066"/>
                    <a:pt x="4799066" y="4191000"/>
                    <a:pt x="4765842" y="4191000"/>
                  </a:cubicBezTo>
                  <a:lnTo>
                    <a:pt x="60158" y="4191000"/>
                  </a:lnTo>
                  <a:cubicBezTo>
                    <a:pt x="26934" y="4191000"/>
                    <a:pt x="0" y="4164066"/>
                    <a:pt x="0" y="4130842"/>
                  </a:cubicBezTo>
                  <a:lnTo>
                    <a:pt x="0" y="60158"/>
                  </a:lnTo>
                  <a:cubicBezTo>
                    <a:pt x="0" y="26934"/>
                    <a:pt x="26934" y="0"/>
                    <a:pt x="60158" y="0"/>
                  </a:cubicBezTo>
                  <a:close/>
                </a:path>
              </a:pathLst>
            </a:custGeom>
            <a:solidFill>
              <a:srgbClr val="8B7CF6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2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REAL-TIME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Socket.IO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 — KIẾN TRÚC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00175"/>
            <a:ext cx="10477500" cy="1582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Hệ thống hoạt động</a:t>
            </a:r>
          </a:p>
          <a:p>
            <a:pPr algn="l">
              <a:lnSpc>
                <a:spcPts val="6156"/>
              </a:lnSpc>
            </a:pPr>
            <a:r>
              <a:rPr lang="en-US" sz="570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như thế nào?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4857750"/>
            <a:ext cx="3238500" cy="2000250"/>
            <a:chOff x="0" y="0"/>
            <a:chExt cx="4318000" cy="266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18000" cy="2667000"/>
            </a:xfrm>
            <a:custGeom>
              <a:avLst/>
              <a:gdLst/>
              <a:ahLst/>
              <a:cxnLst/>
              <a:rect l="l" t="t" r="r" b="b"/>
              <a:pathLst>
                <a:path w="4318000" h="2667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599765"/>
                  </a:lnTo>
                  <a:cubicBezTo>
                    <a:pt x="4318000" y="2636898"/>
                    <a:pt x="4287898" y="2667000"/>
                    <a:pt x="4250765" y="2667000"/>
                  </a:cubicBezTo>
                  <a:lnTo>
                    <a:pt x="67235" y="2667000"/>
                  </a:lnTo>
                  <a:cubicBezTo>
                    <a:pt x="30102" y="2667000"/>
                    <a:pt x="0" y="2636898"/>
                    <a:pt x="0" y="2599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318000" cy="271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0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NGƯỜI DÙNG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Thao tác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4381500" y="5857875"/>
            <a:ext cx="762000" cy="0"/>
          </a:xfrm>
          <a:prstGeom prst="line">
            <a:avLst/>
          </a:prstGeom>
          <a:ln w="47625" cap="rnd">
            <a:solidFill>
              <a:srgbClr val="32D6C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5238750" y="4857750"/>
            <a:ext cx="3238500" cy="2000250"/>
            <a:chOff x="0" y="0"/>
            <a:chExt cx="4318000" cy="266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18000" cy="2667000"/>
            </a:xfrm>
            <a:custGeom>
              <a:avLst/>
              <a:gdLst/>
              <a:ahLst/>
              <a:cxnLst/>
              <a:rect l="l" t="t" r="r" b="b"/>
              <a:pathLst>
                <a:path w="4318000" h="2667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599765"/>
                  </a:lnTo>
                  <a:cubicBezTo>
                    <a:pt x="4318000" y="2636898"/>
                    <a:pt x="4287898" y="2667000"/>
                    <a:pt x="4250765" y="2667000"/>
                  </a:cubicBezTo>
                  <a:lnTo>
                    <a:pt x="67235" y="2667000"/>
                  </a:lnTo>
                  <a:cubicBezTo>
                    <a:pt x="30102" y="2667000"/>
                    <a:pt x="0" y="2636898"/>
                    <a:pt x="0" y="2599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318000" cy="271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0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GIAO DIỆN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Gửi yêu cầu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572500" y="5857875"/>
            <a:ext cx="762000" cy="0"/>
          </a:xfrm>
          <a:prstGeom prst="line">
            <a:avLst/>
          </a:prstGeom>
          <a:ln w="47625" cap="rnd">
            <a:solidFill>
              <a:srgbClr val="32D6C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9429750" y="4857750"/>
            <a:ext cx="3238500" cy="2000250"/>
            <a:chOff x="0" y="0"/>
            <a:chExt cx="4318000" cy="2667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18000" cy="2667000"/>
            </a:xfrm>
            <a:custGeom>
              <a:avLst/>
              <a:gdLst/>
              <a:ahLst/>
              <a:cxnLst/>
              <a:rect l="l" t="t" r="r" b="b"/>
              <a:pathLst>
                <a:path w="4318000" h="2667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599765"/>
                  </a:lnTo>
                  <a:cubicBezTo>
                    <a:pt x="4318000" y="2636898"/>
                    <a:pt x="4287898" y="2667000"/>
                    <a:pt x="4250765" y="2667000"/>
                  </a:cubicBezTo>
                  <a:lnTo>
                    <a:pt x="67235" y="2667000"/>
                  </a:lnTo>
                  <a:cubicBezTo>
                    <a:pt x="30102" y="2667000"/>
                    <a:pt x="0" y="2636898"/>
                    <a:pt x="0" y="2599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5865F2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318000" cy="271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02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SERVER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Xử lý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2763500" y="5857875"/>
            <a:ext cx="762000" cy="0"/>
          </a:xfrm>
          <a:prstGeom prst="line">
            <a:avLst/>
          </a:prstGeom>
          <a:ln w="47625" cap="rnd">
            <a:solidFill>
              <a:srgbClr val="32D6C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3620750" y="4857750"/>
            <a:ext cx="3238500" cy="2000250"/>
            <a:chOff x="0" y="0"/>
            <a:chExt cx="4318000" cy="266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18000" cy="2667000"/>
            </a:xfrm>
            <a:custGeom>
              <a:avLst/>
              <a:gdLst/>
              <a:ahLst/>
              <a:cxnLst/>
              <a:rect l="l" t="t" r="r" b="b"/>
              <a:pathLst>
                <a:path w="4318000" h="2667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599765"/>
                  </a:lnTo>
                  <a:cubicBezTo>
                    <a:pt x="4318000" y="2636898"/>
                    <a:pt x="4287898" y="2667000"/>
                    <a:pt x="4250765" y="2667000"/>
                  </a:cubicBezTo>
                  <a:lnTo>
                    <a:pt x="67235" y="2667000"/>
                  </a:lnTo>
                  <a:cubicBezTo>
                    <a:pt x="30102" y="2667000"/>
                    <a:pt x="0" y="2636898"/>
                    <a:pt x="0" y="2599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318000" cy="271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  <a:r>
                <a:rPr lang="en-US" sz="20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DỮ LIỆU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Lưu / lấy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238750" y="7581900"/>
            <a:ext cx="78105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Kết quả trả về → hiển thị cho người dùng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 — TÍNH NĂNG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38275"/>
            <a:ext cx="7239000" cy="89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sz="630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Đăng bài viết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2962275"/>
            <a:ext cx="619125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Chia sẻ khoảnh khắc bằng ảnh hoặc video. Tương tác tự nhiên qua lượt thích và bình luận.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858250" y="1238250"/>
            <a:ext cx="7429500" cy="7620000"/>
            <a:chOff x="0" y="0"/>
            <a:chExt cx="9906000" cy="10160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906000" cy="10160000"/>
              <a:chOff x="0" y="0"/>
              <a:chExt cx="9906000" cy="1016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906000" cy="10160000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10160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0160000"/>
                    </a:lnTo>
                    <a:lnTo>
                      <a:pt x="0" y="1016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906000" cy="1019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762000" y="2159000"/>
              <a:ext cx="8382000" cy="5080000"/>
            </a:xfrm>
            <a:custGeom>
              <a:avLst/>
              <a:gdLst/>
              <a:ahLst/>
              <a:cxnLst/>
              <a:rect l="l" t="t" r="r" b="b"/>
              <a:pathLst>
                <a:path w="8382000" h="5080000">
                  <a:moveTo>
                    <a:pt x="0" y="0"/>
                  </a:moveTo>
                  <a:lnTo>
                    <a:pt x="8382000" y="0"/>
                  </a:lnTo>
                  <a:lnTo>
                    <a:pt x="8382000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72" r="-387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0" y="923925"/>
              <a:ext cx="711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NGƯỜI DÙNG  •  vừa xong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0" y="7772400"/>
              <a:ext cx="762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5865F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♡  Thích          ◯  Bình luận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 — KẾT NỐI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543050"/>
            <a:ext cx="6572250" cy="184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66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Kết bạn &amp;</a:t>
            </a:r>
          </a:p>
          <a:p>
            <a:pPr algn="l">
              <a:lnSpc>
                <a:spcPts val="7128"/>
              </a:lnSpc>
            </a:pPr>
            <a:r>
              <a:rPr lang="en-US" sz="66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Nhắn tin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4057650"/>
            <a:ext cx="590550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BD3E7"/>
                </a:solidFill>
                <a:latin typeface="Open Sans"/>
                <a:ea typeface="Open Sans"/>
                <a:cs typeface="Open Sans"/>
                <a:sym typeface="Open Sans"/>
              </a:rPr>
              <a:t>Gửi và chấp nhận lời mời kết bạn. Tin nhắn được hiển thị ngay lập tức nhờ Socket.IO.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0" y="1143000"/>
            <a:ext cx="8096250" cy="7810500"/>
            <a:chOff x="0" y="0"/>
            <a:chExt cx="10795000" cy="10414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795000" cy="10414000"/>
              <a:chOff x="0" y="0"/>
              <a:chExt cx="10795000" cy="10414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795000" cy="10414000"/>
              </a:xfrm>
              <a:custGeom>
                <a:avLst/>
                <a:gdLst/>
                <a:ahLst/>
                <a:cxnLst/>
                <a:rect l="l" t="t" r="r" b="b"/>
                <a:pathLst>
                  <a:path w="10795000" h="10414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10414000"/>
                    </a:lnTo>
                    <a:lnTo>
                      <a:pt x="0" y="1041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0795000" cy="1045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016000" y="2032000"/>
              <a:ext cx="5969000" cy="1524000"/>
              <a:chOff x="0" y="0"/>
              <a:chExt cx="5969000" cy="1524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969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1524000">
                    <a:moveTo>
                      <a:pt x="48638" y="0"/>
                    </a:moveTo>
                    <a:lnTo>
                      <a:pt x="5920362" y="0"/>
                    </a:lnTo>
                    <a:cubicBezTo>
                      <a:pt x="5933261" y="0"/>
                      <a:pt x="5945633" y="5124"/>
                      <a:pt x="5954754" y="14246"/>
                    </a:cubicBezTo>
                    <a:cubicBezTo>
                      <a:pt x="5963876" y="23367"/>
                      <a:pt x="5969000" y="35739"/>
                      <a:pt x="5969000" y="48638"/>
                    </a:cubicBezTo>
                    <a:lnTo>
                      <a:pt x="5969000" y="1475362"/>
                    </a:lnTo>
                    <a:cubicBezTo>
                      <a:pt x="5969000" y="1488261"/>
                      <a:pt x="5963876" y="1500633"/>
                      <a:pt x="5954754" y="1509754"/>
                    </a:cubicBezTo>
                    <a:cubicBezTo>
                      <a:pt x="5945633" y="1518876"/>
                      <a:pt x="5933261" y="1524000"/>
                      <a:pt x="5920362" y="1524000"/>
                    </a:cubicBezTo>
                    <a:lnTo>
                      <a:pt x="48638" y="1524000"/>
                    </a:lnTo>
                    <a:cubicBezTo>
                      <a:pt x="35739" y="1524000"/>
                      <a:pt x="23367" y="1518876"/>
                      <a:pt x="14246" y="1509754"/>
                    </a:cubicBezTo>
                    <a:cubicBezTo>
                      <a:pt x="5124" y="1500633"/>
                      <a:pt x="0" y="1488261"/>
                      <a:pt x="0" y="1475362"/>
                    </a:cubicBezTo>
                    <a:lnTo>
                      <a:pt x="0" y="48638"/>
                    </a:lnTo>
                    <a:cubicBezTo>
                      <a:pt x="0" y="35739"/>
                      <a:pt x="5124" y="23367"/>
                      <a:pt x="14246" y="14246"/>
                    </a:cubicBezTo>
                    <a:cubicBezTo>
                      <a:pt x="23367" y="5124"/>
                      <a:pt x="35739" y="0"/>
                      <a:pt x="48638" y="0"/>
                    </a:cubicBezTo>
                    <a:close/>
                  </a:path>
                </a:pathLst>
              </a:custGeom>
              <a:solidFill>
                <a:srgbClr val="E9E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969000" cy="1571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9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Chào bạn! 👋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683000" y="4254500"/>
              <a:ext cx="5969000" cy="1524000"/>
              <a:chOff x="0" y="0"/>
              <a:chExt cx="5969000" cy="1524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969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1524000">
                    <a:moveTo>
                      <a:pt x="48638" y="0"/>
                    </a:moveTo>
                    <a:lnTo>
                      <a:pt x="5920362" y="0"/>
                    </a:lnTo>
                    <a:cubicBezTo>
                      <a:pt x="5933261" y="0"/>
                      <a:pt x="5945633" y="5124"/>
                      <a:pt x="5954754" y="14246"/>
                    </a:cubicBezTo>
                    <a:cubicBezTo>
                      <a:pt x="5963876" y="23367"/>
                      <a:pt x="5969000" y="35739"/>
                      <a:pt x="5969000" y="48638"/>
                    </a:cubicBezTo>
                    <a:lnTo>
                      <a:pt x="5969000" y="1475362"/>
                    </a:lnTo>
                    <a:cubicBezTo>
                      <a:pt x="5969000" y="1488261"/>
                      <a:pt x="5963876" y="1500633"/>
                      <a:pt x="5954754" y="1509754"/>
                    </a:cubicBezTo>
                    <a:cubicBezTo>
                      <a:pt x="5945633" y="1518876"/>
                      <a:pt x="5933261" y="1524000"/>
                      <a:pt x="5920362" y="1524000"/>
                    </a:cubicBezTo>
                    <a:lnTo>
                      <a:pt x="48638" y="1524000"/>
                    </a:lnTo>
                    <a:cubicBezTo>
                      <a:pt x="35739" y="1524000"/>
                      <a:pt x="23367" y="1518876"/>
                      <a:pt x="14246" y="1509754"/>
                    </a:cubicBezTo>
                    <a:cubicBezTo>
                      <a:pt x="5124" y="1500633"/>
                      <a:pt x="0" y="1488261"/>
                      <a:pt x="0" y="1475362"/>
                    </a:cubicBezTo>
                    <a:lnTo>
                      <a:pt x="0" y="48638"/>
                    </a:lnTo>
                    <a:cubicBezTo>
                      <a:pt x="0" y="35739"/>
                      <a:pt x="5124" y="23367"/>
                      <a:pt x="14246" y="14246"/>
                    </a:cubicBezTo>
                    <a:cubicBezTo>
                      <a:pt x="23367" y="5124"/>
                      <a:pt x="35739" y="0"/>
                      <a:pt x="48638" y="0"/>
                    </a:cubicBezTo>
                    <a:close/>
                  </a:path>
                </a:pathLst>
              </a:custGeom>
              <a:solidFill>
                <a:srgbClr val="5865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5969000" cy="15525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Mình nhận được tin nhắn rồi.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16000" y="6477000"/>
              <a:ext cx="5969000" cy="1524000"/>
              <a:chOff x="0" y="0"/>
              <a:chExt cx="5969000" cy="1524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969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1524000">
                    <a:moveTo>
                      <a:pt x="48638" y="0"/>
                    </a:moveTo>
                    <a:lnTo>
                      <a:pt x="5920362" y="0"/>
                    </a:lnTo>
                    <a:cubicBezTo>
                      <a:pt x="5933261" y="0"/>
                      <a:pt x="5945633" y="5124"/>
                      <a:pt x="5954754" y="14246"/>
                    </a:cubicBezTo>
                    <a:cubicBezTo>
                      <a:pt x="5963876" y="23367"/>
                      <a:pt x="5969000" y="35739"/>
                      <a:pt x="5969000" y="48638"/>
                    </a:cubicBezTo>
                    <a:lnTo>
                      <a:pt x="5969000" y="1475362"/>
                    </a:lnTo>
                    <a:cubicBezTo>
                      <a:pt x="5969000" y="1488261"/>
                      <a:pt x="5963876" y="1500633"/>
                      <a:pt x="5954754" y="1509754"/>
                    </a:cubicBezTo>
                    <a:cubicBezTo>
                      <a:pt x="5945633" y="1518876"/>
                      <a:pt x="5933261" y="1524000"/>
                      <a:pt x="5920362" y="1524000"/>
                    </a:cubicBezTo>
                    <a:lnTo>
                      <a:pt x="48638" y="1524000"/>
                    </a:lnTo>
                    <a:cubicBezTo>
                      <a:pt x="35739" y="1524000"/>
                      <a:pt x="23367" y="1518876"/>
                      <a:pt x="14246" y="1509754"/>
                    </a:cubicBezTo>
                    <a:cubicBezTo>
                      <a:pt x="5124" y="1500633"/>
                      <a:pt x="0" y="1488261"/>
                      <a:pt x="0" y="1475362"/>
                    </a:cubicBezTo>
                    <a:lnTo>
                      <a:pt x="0" y="48638"/>
                    </a:lnTo>
                    <a:cubicBezTo>
                      <a:pt x="0" y="35739"/>
                      <a:pt x="5124" y="23367"/>
                      <a:pt x="14246" y="14246"/>
                    </a:cubicBezTo>
                    <a:cubicBezTo>
                      <a:pt x="23367" y="5124"/>
                      <a:pt x="35739" y="0"/>
                      <a:pt x="48638" y="0"/>
                    </a:cubicBezTo>
                    <a:close/>
                  </a:path>
                </a:pathLst>
              </a:custGeom>
              <a:solidFill>
                <a:srgbClr val="E9ED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5969000" cy="15525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Kết nối real-time ✓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 — KHÁM PHÁ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47800"/>
            <a:ext cx="8572500" cy="86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15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Story &amp; Nhóm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143250"/>
            <a:ext cx="6477000" cy="4953000"/>
            <a:chOff x="0" y="0"/>
            <a:chExt cx="8636000" cy="6604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8636000" cy="6604000"/>
              <a:chOff x="0" y="0"/>
              <a:chExt cx="8636000" cy="6604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636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8636000" h="66040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5865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8636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143000" y="1066800"/>
              <a:ext cx="6350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</a:pPr>
              <a:r>
                <a:rPr lang="en-US" sz="39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STORY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43000" y="2355850"/>
              <a:ext cx="6350000" cy="101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Ảnh/video ngắn</a:t>
              </a:r>
            </a:p>
            <a:p>
              <a:pPr algn="ctr">
                <a:lnSpc>
                  <a:spcPts val="3150"/>
                </a:lnSpc>
              </a:pPr>
              <a:r>
                <a:rPr lang="en-US" sz="2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Tự biến mất sau 24 giờ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63250" y="3143250"/>
            <a:ext cx="6477000" cy="4953000"/>
            <a:chOff x="0" y="0"/>
            <a:chExt cx="8636000" cy="6604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8636000" cy="6604000"/>
              <a:chOff x="0" y="0"/>
              <a:chExt cx="8636000" cy="660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636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8636000" h="66040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8636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143000" y="1066800"/>
              <a:ext cx="6350000" cy="858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</a:pPr>
              <a:r>
                <a:rPr lang="en-US" sz="3900" b="1">
                  <a:solidFill>
                    <a:srgbClr val="1621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NHÓM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3000" y="2355850"/>
              <a:ext cx="6350000" cy="101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100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Tạo cộng đồng</a:t>
              </a:r>
            </a:p>
            <a:p>
              <a:pPr algn="ctr">
                <a:lnSpc>
                  <a:spcPts val="3150"/>
                </a:lnSpc>
              </a:pPr>
              <a:r>
                <a:rPr lang="en-US" sz="2100">
                  <a:solidFill>
                    <a:srgbClr val="16213E"/>
                  </a:solidFill>
                  <a:latin typeface="Open Sans"/>
                  <a:ea typeface="Open Sans"/>
                  <a:cs typeface="Open Sans"/>
                  <a:sym typeface="Open Sans"/>
                </a:rPr>
                <a:t>Đăng bài trong nhóm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 — QUẢN TRỊ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47800"/>
            <a:ext cx="9048750" cy="86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15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Trang quản trị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714750"/>
            <a:ext cx="4857750" cy="3619500"/>
            <a:chOff x="0" y="0"/>
            <a:chExt cx="6477000" cy="482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77000" cy="4826000"/>
            </a:xfrm>
            <a:custGeom>
              <a:avLst/>
              <a:gdLst/>
              <a:ahLst/>
              <a:cxnLst/>
              <a:rect l="l" t="t" r="r" b="b"/>
              <a:pathLst>
                <a:path w="6477000" h="4826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4781176"/>
                  </a:lnTo>
                  <a:cubicBezTo>
                    <a:pt x="6477000" y="4793064"/>
                    <a:pt x="6472277" y="4804465"/>
                    <a:pt x="6463871" y="4812871"/>
                  </a:cubicBezTo>
                  <a:cubicBezTo>
                    <a:pt x="6455465" y="4821277"/>
                    <a:pt x="6444064" y="4826000"/>
                    <a:pt x="6432176" y="4826000"/>
                  </a:cubicBezTo>
                  <a:lnTo>
                    <a:pt x="44824" y="4826000"/>
                  </a:lnTo>
                  <a:cubicBezTo>
                    <a:pt x="32936" y="4826000"/>
                    <a:pt x="21535" y="4821277"/>
                    <a:pt x="13129" y="4812871"/>
                  </a:cubicBezTo>
                  <a:cubicBezTo>
                    <a:pt x="4722" y="4804465"/>
                    <a:pt x="0" y="4793064"/>
                    <a:pt x="0" y="4781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477000" cy="4873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4"/>
                </a:lnSpc>
              </a:pPr>
              <a:r>
                <a:rPr lang="en-US" sz="23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TÀI KHOẢN</a:t>
              </a:r>
            </a:p>
            <a:p>
              <a:pPr algn="ctr">
                <a:lnSpc>
                  <a:spcPts val="3254"/>
                </a:lnSpc>
              </a:pPr>
              <a:r>
                <a:rPr lang="en-US" sz="23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Quản lý người dùng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0" y="3714750"/>
            <a:ext cx="4857750" cy="3619500"/>
            <a:chOff x="0" y="0"/>
            <a:chExt cx="6477000" cy="482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77000" cy="4826000"/>
            </a:xfrm>
            <a:custGeom>
              <a:avLst/>
              <a:gdLst/>
              <a:ahLst/>
              <a:cxnLst/>
              <a:rect l="l" t="t" r="r" b="b"/>
              <a:pathLst>
                <a:path w="6477000" h="4826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4781176"/>
                  </a:lnTo>
                  <a:cubicBezTo>
                    <a:pt x="6477000" y="4793064"/>
                    <a:pt x="6472277" y="4804465"/>
                    <a:pt x="6463871" y="4812871"/>
                  </a:cubicBezTo>
                  <a:cubicBezTo>
                    <a:pt x="6455465" y="4821277"/>
                    <a:pt x="6444064" y="4826000"/>
                    <a:pt x="6432176" y="4826000"/>
                  </a:cubicBezTo>
                  <a:lnTo>
                    <a:pt x="44824" y="4826000"/>
                  </a:lnTo>
                  <a:cubicBezTo>
                    <a:pt x="32936" y="4826000"/>
                    <a:pt x="21535" y="4821277"/>
                    <a:pt x="13129" y="4812871"/>
                  </a:cubicBezTo>
                  <a:cubicBezTo>
                    <a:pt x="4722" y="4804465"/>
                    <a:pt x="0" y="4793064"/>
                    <a:pt x="0" y="4781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477000" cy="4873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4"/>
                </a:lnSpc>
              </a:pPr>
              <a:r>
                <a:rPr lang="en-US" sz="23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NỘI DUNG</a:t>
              </a:r>
            </a:p>
            <a:p>
              <a:pPr algn="ctr">
                <a:lnSpc>
                  <a:spcPts val="3254"/>
                </a:lnSpc>
              </a:pPr>
              <a:r>
                <a:rPr lang="en-US" sz="2325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Kiểm duyệt bài viết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06250" y="3714750"/>
            <a:ext cx="4857750" cy="3619500"/>
            <a:chOff x="0" y="0"/>
            <a:chExt cx="6477000" cy="482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77000" cy="4826000"/>
            </a:xfrm>
            <a:custGeom>
              <a:avLst/>
              <a:gdLst/>
              <a:ahLst/>
              <a:cxnLst/>
              <a:rect l="l" t="t" r="r" b="b"/>
              <a:pathLst>
                <a:path w="6477000" h="4826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4781176"/>
                  </a:lnTo>
                  <a:cubicBezTo>
                    <a:pt x="6477000" y="4793064"/>
                    <a:pt x="6472277" y="4804465"/>
                    <a:pt x="6463871" y="4812871"/>
                  </a:cubicBezTo>
                  <a:cubicBezTo>
                    <a:pt x="6455465" y="4821277"/>
                    <a:pt x="6444064" y="4826000"/>
                    <a:pt x="6432176" y="4826000"/>
                  </a:cubicBezTo>
                  <a:lnTo>
                    <a:pt x="44824" y="4826000"/>
                  </a:lnTo>
                  <a:cubicBezTo>
                    <a:pt x="32936" y="4826000"/>
                    <a:pt x="21535" y="4821277"/>
                    <a:pt x="13129" y="4812871"/>
                  </a:cubicBezTo>
                  <a:cubicBezTo>
                    <a:pt x="4722" y="4804465"/>
                    <a:pt x="0" y="4793064"/>
                    <a:pt x="0" y="4781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EF5B78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477000" cy="4873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4"/>
                </a:lnSpc>
              </a:pPr>
              <a:r>
                <a:rPr lang="en-US" sz="232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BÁO CÁO</a:t>
              </a:r>
            </a:p>
            <a:p>
              <a:pPr algn="ctr">
                <a:lnSpc>
                  <a:spcPts val="3254"/>
                </a:lnSpc>
              </a:pPr>
              <a:r>
                <a:rPr lang="en-US" sz="232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Xử lý vi phạm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 — BẢO MẬT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47800"/>
            <a:ext cx="8572500" cy="86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15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Bảo mật cơ bản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333750"/>
            <a:ext cx="4857750" cy="4095750"/>
            <a:chOff x="0" y="0"/>
            <a:chExt cx="6477000" cy="546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Mã hoá mật khẩu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không lưu bản gốc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0" y="3333750"/>
            <a:ext cx="4857750" cy="4095750"/>
            <a:chOff x="0" y="0"/>
            <a:chExt cx="6477000" cy="546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5865F2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Xác thực JWT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đăng nhập bằng token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06250" y="3333750"/>
            <a:ext cx="4857750" cy="4095750"/>
            <a:chOff x="0" y="0"/>
            <a:chExt cx="6477000" cy="546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Bảo vệ trang riêng tư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chỉ người đăng nhập mới vào được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781050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5865F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 — TIỆN ÍCH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1447800"/>
            <a:ext cx="8572500" cy="86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150" b="1">
                <a:solidFill>
                  <a:srgbClr val="16213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Không bỏ lỡ điều gì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3333750"/>
            <a:ext cx="4857750" cy="4095750"/>
            <a:chOff x="0" y="0"/>
            <a:chExt cx="6477000" cy="546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Thông báo realtime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có lượt thích là biết ngay 🔔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0" y="3333750"/>
            <a:ext cx="4857750" cy="4095750"/>
            <a:chOff x="0" y="0"/>
            <a:chExt cx="6477000" cy="546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5865F2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Tìm kiếm nhanh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bạn bè, bài viết, nhóm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06250" y="3333750"/>
            <a:ext cx="4857750" cy="4095750"/>
            <a:chOff x="0" y="0"/>
            <a:chExt cx="6477000" cy="546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77000" cy="5461000"/>
            </a:xfrm>
            <a:custGeom>
              <a:avLst/>
              <a:gdLst/>
              <a:ahLst/>
              <a:cxnLst/>
              <a:rect l="l" t="t" r="r" b="b"/>
              <a:pathLst>
                <a:path w="6477000" h="5461000">
                  <a:moveTo>
                    <a:pt x="44824" y="0"/>
                  </a:moveTo>
                  <a:lnTo>
                    <a:pt x="6432176" y="0"/>
                  </a:lnTo>
                  <a:cubicBezTo>
                    <a:pt x="6444064" y="0"/>
                    <a:pt x="6455465" y="4722"/>
                    <a:pt x="6463871" y="13129"/>
                  </a:cubicBezTo>
                  <a:cubicBezTo>
                    <a:pt x="6472277" y="21535"/>
                    <a:pt x="6477000" y="32936"/>
                    <a:pt x="6477000" y="44824"/>
                  </a:cubicBezTo>
                  <a:lnTo>
                    <a:pt x="6477000" y="5416176"/>
                  </a:lnTo>
                  <a:cubicBezTo>
                    <a:pt x="6477000" y="5428064"/>
                    <a:pt x="6472277" y="5439465"/>
                    <a:pt x="6463871" y="5447871"/>
                  </a:cubicBezTo>
                  <a:cubicBezTo>
                    <a:pt x="6455465" y="5456277"/>
                    <a:pt x="6444064" y="5461000"/>
                    <a:pt x="6432176" y="5461000"/>
                  </a:cubicBezTo>
                  <a:lnTo>
                    <a:pt x="44824" y="5461000"/>
                  </a:lnTo>
                  <a:cubicBezTo>
                    <a:pt x="32936" y="5461000"/>
                    <a:pt x="21535" y="5456277"/>
                    <a:pt x="13129" y="5447871"/>
                  </a:cubicBezTo>
                  <a:cubicBezTo>
                    <a:pt x="4722" y="5439465"/>
                    <a:pt x="0" y="5428064"/>
                    <a:pt x="0" y="5416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477000" cy="550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Lưu bài viết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16213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đọc lại khi rảnh 📌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87500" y="6477000"/>
            <a:ext cx="4381500" cy="4381500"/>
            <a:chOff x="0" y="0"/>
            <a:chExt cx="5842000" cy="584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42000" cy="5842000"/>
            </a:xfrm>
            <a:custGeom>
              <a:avLst/>
              <a:gdLst/>
              <a:ahLst/>
              <a:cxnLst/>
              <a:rect l="l" t="t" r="r" b="b"/>
              <a:pathLst>
                <a:path w="5842000" h="5842000">
                  <a:moveTo>
                    <a:pt x="2921000" y="0"/>
                  </a:moveTo>
                  <a:cubicBezTo>
                    <a:pt x="4534224" y="0"/>
                    <a:pt x="5842000" y="1307776"/>
                    <a:pt x="5842000" y="2921000"/>
                  </a:cubicBezTo>
                  <a:cubicBezTo>
                    <a:pt x="5842000" y="4534224"/>
                    <a:pt x="4534224" y="5842000"/>
                    <a:pt x="2921000" y="5842000"/>
                  </a:cubicBezTo>
                  <a:cubicBezTo>
                    <a:pt x="1307776" y="5842000"/>
                    <a:pt x="0" y="4534224"/>
                    <a:pt x="0" y="2921000"/>
                  </a:cubicBezTo>
                  <a:cubicBezTo>
                    <a:pt x="0" y="1307776"/>
                    <a:pt x="1307776" y="0"/>
                    <a:pt x="2921000" y="0"/>
                  </a:cubicBezTo>
                  <a:close/>
                </a:path>
              </a:pathLst>
            </a:custGeom>
            <a:solidFill>
              <a:srgbClr val="5865F2">
                <a:alpha val="74902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047750" y="1114425"/>
            <a:ext cx="571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32D6C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SOCIAL NETWORK WEB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54421" y="4533900"/>
            <a:ext cx="4179158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72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Cảm</a:t>
            </a:r>
            <a:r>
              <a:rPr lang="en-US" sz="7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ơn</a:t>
            </a:r>
            <a:r>
              <a:rPr lang="en-US" sz="7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429</Words>
  <Application>Microsoft Office PowerPoint</Application>
  <PresentationFormat>Custom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Open Sans Bold</vt:lpstr>
      <vt:lpstr>Montserrat Bold</vt:lpstr>
      <vt:lpstr>Calibri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Trần Xuân Hoàng - 67IT3</cp:lastModifiedBy>
  <cp:revision>3</cp:revision>
  <dcterms:created xsi:type="dcterms:W3CDTF">2006-08-16T00:00:00Z</dcterms:created>
  <dcterms:modified xsi:type="dcterms:W3CDTF">2026-09-15T07:26:32Z</dcterms:modified>
  <dc:identifier>DAHVLyRWmoc</dc:identifier>
</cp:coreProperties>
</file>